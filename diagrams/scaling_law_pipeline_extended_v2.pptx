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9052560" cy="4709160"/>
          </a:xfrm>
          <a:prstGeom prst="roundRect">
            <a:avLst>
              <a:gd name="adj" fmla="val 4000"/>
            </a:avLst>
          </a:prstGeom>
          <a:solidFill>
            <a:srgbClr val="2A9D8F"/>
          </a:solidFill>
          <a:ln w="12700">
            <a:solidFill>
              <a:srgbClr val="21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18120" y="457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211F2E"/>
                </a:solidFill>
                <a:latin typeface="Calibri"/>
              </a:rPr>
              <a:t>1. Data collection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68580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F2FAF8"/>
          </a:solidFill>
          <a:ln w="15875">
            <a:solidFill>
              <a:srgbClr val="635C7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ctr">
              <a:spcAft>
                <a:spcPts val="400"/>
              </a:spcAft>
            </a:pPr>
            <a:r>
              <a:rPr b="1" sz="1400">
                <a:solidFill>
                  <a:srgbClr val="211F2E"/>
                </a:solidFill>
                <a:latin typeface="Calibri"/>
              </a:rPr>
              <a:t>1.1 Define search space</a:t>
            </a:r>
          </a:p>
          <a:p>
            <a:r>
              <a:rPr sz="1100" b="0" i="0">
                <a:solidFill>
                  <a:srgbClr val="4D7D77"/>
                </a:solidFill>
                <a:latin typeface="Calibri"/>
              </a:rPr>
              <a:t>Define the configuration search space </a:t>
            </a:r>
            <a:r>
              <a:rPr sz="1100" b="0" i="1">
                <a:solidFill>
                  <a:srgbClr val="4D7D77"/>
                </a:solidFill>
                <a:latin typeface="Cambria Math"/>
              </a:rPr>
              <a:t>S</a:t>
            </a:r>
            <a:r>
              <a:rPr sz="1100" b="0" i="0">
                <a:solidFill>
                  <a:srgbClr val="4D7D77"/>
                </a:solidFill>
                <a:latin typeface="Calibri"/>
              </a:rPr>
              <a:t> to be explored (e.g., (N, D, lr, gbsz)).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68580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F2FAF8"/>
          </a:solidFill>
          <a:ln w="15875">
            <a:solidFill>
              <a:srgbClr val="635C7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ctr">
              <a:spcAft>
                <a:spcPts val="400"/>
              </a:spcAft>
            </a:pPr>
            <a:r>
              <a:rPr b="1" sz="1400">
                <a:solidFill>
                  <a:srgbClr val="211F2E"/>
                </a:solidFill>
                <a:latin typeface="Calibri"/>
              </a:rPr>
              <a:t>1.2 Initialize</a:t>
            </a:r>
          </a:p>
          <a:p>
            <a:r>
              <a:rPr sz="1100" b="0" i="0">
                <a:solidFill>
                  <a:srgbClr val="4D7D77"/>
                </a:solidFill>
                <a:latin typeface="Calibri"/>
              </a:rPr>
              <a:t>Draw </a:t>
            </a:r>
            <a:r>
              <a:rPr sz="900" b="0" i="0">
                <a:solidFill>
                  <a:srgbClr val="4D7D77"/>
                </a:solidFill>
                <a:latin typeface="Consolas"/>
              </a:rPr>
              <a:t>n_init_points</a:t>
            </a:r>
            <a:r>
              <a:rPr sz="1100" b="0" i="0">
                <a:solidFill>
                  <a:srgbClr val="4D7D77"/>
                </a:solidFill>
                <a:latin typeface="Calibri"/>
              </a:rPr>
              <a:t> configurations from a cheap window. Collect loss.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C6E8E2"/>
          </a:solidFill>
          <a:ln w="19050">
            <a:solidFill>
              <a:srgbClr val="21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ctr">
              <a:spcAft>
                <a:spcPts val="400"/>
              </a:spcAft>
            </a:pPr>
            <a:r>
              <a:rPr b="1" sz="1400">
                <a:solidFill>
                  <a:srgbClr val="211F2E"/>
                </a:solidFill>
                <a:latin typeface="Calibri"/>
              </a:rPr>
              <a:t>1.3 Next point selection</a:t>
            </a:r>
          </a:p>
          <a:p>
            <a:r>
              <a:rPr sz="1100" b="0" i="0">
                <a:solidFill>
                  <a:srgbClr val="245E57"/>
                </a:solidFill>
                <a:latin typeface="Calibri"/>
              </a:rPr>
              <a:t>Pick one point to acquire next based on </a:t>
            </a:r>
            <a:r>
              <a:rPr sz="1100" b="1" i="0">
                <a:solidFill>
                  <a:srgbClr val="245E57"/>
                </a:solidFill>
                <a:latin typeface="Calibri"/>
              </a:rPr>
              <a:t>selection strategy</a:t>
            </a:r>
            <a:r>
              <a:rPr sz="1100" b="0" i="0">
                <a:solidFill>
                  <a:srgbClr val="245E57"/>
                </a:solidFill>
                <a:latin typeface="Calibri"/>
              </a:rPr>
              <a:t> (acquisition function or heuristic).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224028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C6E8E2"/>
          </a:solidFill>
          <a:ln w="19050">
            <a:solidFill>
              <a:srgbClr val="21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ctr">
              <a:spcAft>
                <a:spcPts val="400"/>
              </a:spcAft>
            </a:pPr>
            <a:r>
              <a:rPr b="1" sz="1400">
                <a:solidFill>
                  <a:srgbClr val="211F2E"/>
                </a:solidFill>
                <a:latin typeface="Calibri"/>
              </a:rPr>
              <a:t>1.4 Data collection</a:t>
            </a:r>
          </a:p>
          <a:p>
            <a:r>
              <a:rPr sz="1100" b="0" i="0">
                <a:solidFill>
                  <a:srgbClr val="245E57"/>
                </a:solidFill>
                <a:latin typeface="Calibri"/>
              </a:rPr>
              <a:t>Collect that point's loss, spend up to budget </a:t>
            </a:r>
            <a:r>
              <a:rPr sz="1100" b="0" i="1">
                <a:solidFill>
                  <a:srgbClr val="245E57"/>
                </a:solidFill>
                <a:latin typeface="Cambria Math"/>
              </a:rPr>
              <a:t>B</a:t>
            </a:r>
            <a:r>
              <a:rPr sz="1100" b="0" i="0">
                <a:solidFill>
                  <a:srgbClr val="245E57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24028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C6E8E2"/>
          </a:solidFill>
          <a:ln w="19050">
            <a:solidFill>
              <a:srgbClr val="211F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ctr">
              <a:spcAft>
                <a:spcPts val="400"/>
              </a:spcAft>
            </a:pPr>
            <a:r>
              <a:rPr b="1" sz="1400">
                <a:solidFill>
                  <a:srgbClr val="211F2E"/>
                </a:solidFill>
                <a:latin typeface="Calibri"/>
              </a:rPr>
              <a:t>1.5 Fantasize points</a:t>
            </a:r>
          </a:p>
          <a:p>
            <a:pPr>
              <a:spcAft>
                <a:spcPts val="200"/>
              </a:spcAft>
            </a:pPr>
            <a:r>
              <a:rPr i="1" sz="1000">
                <a:solidFill>
                  <a:srgbClr val="245E57"/>
                </a:solidFill>
                <a:latin typeface="Calibri"/>
              </a:rPr>
              <a:t>(optional)</a:t>
            </a:r>
          </a:p>
          <a:p>
            <a:r>
              <a:rPr sz="1100" b="0" i="0">
                <a:solidFill>
                  <a:srgbClr val="245E57"/>
                </a:solidFill>
                <a:latin typeface="Calibri"/>
              </a:rPr>
              <a:t>Fit a </a:t>
            </a:r>
            <a:r>
              <a:rPr sz="1100" b="1" i="0">
                <a:solidFill>
                  <a:srgbClr val="245E57"/>
                </a:solidFill>
                <a:latin typeface="Calibri"/>
              </a:rPr>
              <a:t>surrogate model</a:t>
            </a:r>
            <a:r>
              <a:rPr sz="1100" b="0" i="0">
                <a:solidFill>
                  <a:srgbClr val="245E57"/>
                </a:solidFill>
                <a:latin typeface="Calibri"/>
              </a:rPr>
              <a:t> and predict loss across the grid.</a:t>
            </a:r>
          </a:p>
        </p:txBody>
      </p:sp>
      <p:sp>
        <p:nvSpPr>
          <p:cNvPr id="9" name="Diamond 8"/>
          <p:cNvSpPr/>
          <p:nvPr/>
        </p:nvSpPr>
        <p:spPr>
          <a:xfrm>
            <a:off x="4069080" y="3794760"/>
            <a:ext cx="1828800" cy="1051560"/>
          </a:xfrm>
          <a:prstGeom prst="diamond">
            <a:avLst/>
          </a:prstGeom>
          <a:solidFill>
            <a:srgbClr val="F2FAF8"/>
          </a:solidFill>
          <a:ln w="19050">
            <a:solidFill>
              <a:srgbClr val="21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211F2E"/>
                </a:solidFill>
                <a:latin typeface="Consolas"/>
              </a:rPr>
              <a:t>C_budget</a:t>
            </a:r>
          </a:p>
          <a:p>
            <a:pPr algn="ctr"/>
            <a:r>
              <a:rPr sz="1100">
                <a:solidFill>
                  <a:srgbClr val="211F2E"/>
                </a:solidFill>
                <a:latin typeface="Calibri"/>
              </a:rPr>
              <a:t>reached?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0" y="539496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5B6CB2"/>
          </a:solidFill>
          <a:ln w="19050">
            <a:solidFill>
              <a:srgbClr val="21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ctr">
              <a:spcAft>
                <a:spcPts val="400"/>
              </a:spcAft>
            </a:pPr>
            <a:r>
              <a:rPr b="1" sz="1400">
                <a:solidFill>
                  <a:srgbClr val="211F2E"/>
                </a:solidFill>
                <a:latin typeface="Calibri"/>
              </a:rPr>
              <a:t>2. Scaling law fitting</a:t>
            </a:r>
          </a:p>
          <a:p>
            <a:r>
              <a:rPr sz="1100" b="0" i="0">
                <a:solidFill>
                  <a:srgbClr val="E3E8F8"/>
                </a:solidFill>
                <a:latin typeface="Calibri"/>
              </a:rPr>
              <a:t>Recover parameters </a:t>
            </a:r>
            <a:r>
              <a:rPr sz="1100" b="0" i="0">
                <a:solidFill>
                  <a:srgbClr val="E3E8F8"/>
                </a:solidFill>
                <a:latin typeface="Cambria Math"/>
              </a:rPr>
              <a:t>θ̂</a:t>
            </a:r>
            <a:r>
              <a:rPr sz="1100" b="0" i="0">
                <a:solidFill>
                  <a:srgbClr val="E3E8F8"/>
                </a:solidFill>
                <a:latin typeface="Calibr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539496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C97B4B"/>
          </a:solidFill>
          <a:ln w="19050">
            <a:solidFill>
              <a:srgbClr val="21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ctr">
              <a:spcAft>
                <a:spcPts val="400"/>
              </a:spcAft>
            </a:pPr>
            <a:r>
              <a:rPr b="1" sz="1400">
                <a:solidFill>
                  <a:srgbClr val="211F2E"/>
                </a:solidFill>
                <a:latin typeface="Calibri"/>
              </a:rPr>
              <a:t>3. Evaluation</a:t>
            </a:r>
          </a:p>
          <a:p>
            <a:r>
              <a:rPr sz="1100" b="0" i="0">
                <a:solidFill>
                  <a:srgbClr val="F6E9CF"/>
                </a:solidFill>
                <a:latin typeface="Calibri"/>
              </a:rPr>
              <a:t>Compare </a:t>
            </a:r>
            <a:r>
              <a:rPr sz="1100" b="0" i="0">
                <a:solidFill>
                  <a:srgbClr val="F6E9CF"/>
                </a:solidFill>
                <a:latin typeface="Cambria Math"/>
              </a:rPr>
              <a:t>θ̂</a:t>
            </a:r>
            <a:r>
              <a:rPr sz="1100" b="0" i="0">
                <a:solidFill>
                  <a:srgbClr val="F6E9CF"/>
                </a:solidFill>
                <a:latin typeface="Calibri"/>
              </a:rPr>
              <a:t> against ground truth.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1303020"/>
            <a:ext cx="320040" cy="0"/>
          </a:xfrm>
          <a:prstGeom prst="line">
            <a:avLst/>
          </a:prstGeom>
          <a:ln w="22225">
            <a:solidFill>
              <a:srgbClr val="211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965960" y="1920240"/>
            <a:ext cx="2788920" cy="320040"/>
          </a:xfrm>
          <a:prstGeom prst="bentConnector3">
            <a:avLst/>
          </a:prstGeom>
          <a:ln w="22225">
            <a:solidFill>
              <a:srgbClr val="211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00400" y="2857500"/>
            <a:ext cx="320040" cy="0"/>
          </a:xfrm>
          <a:prstGeom prst="line">
            <a:avLst/>
          </a:prstGeom>
          <a:ln w="22225">
            <a:solidFill>
              <a:srgbClr val="211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89320" y="2857500"/>
            <a:ext cx="320040" cy="0"/>
          </a:xfrm>
          <a:prstGeom prst="line">
            <a:avLst/>
          </a:prstGeom>
          <a:ln w="22225">
            <a:solidFill>
              <a:srgbClr val="211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495544" y="3474720"/>
            <a:ext cx="2048256" cy="320040"/>
          </a:xfrm>
          <a:prstGeom prst="bentConnector3">
            <a:avLst/>
          </a:prstGeom>
          <a:ln w="22225">
            <a:solidFill>
              <a:srgbClr val="211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471416" y="3474720"/>
            <a:ext cx="900684" cy="320040"/>
          </a:xfrm>
          <a:prstGeom prst="bentConnector3">
            <a:avLst/>
          </a:prstGeom>
          <a:ln w="22225">
            <a:solidFill>
              <a:srgbClr val="211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878324" y="3502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2FAF8"/>
                </a:solidFill>
                <a:latin typeface="Calibri"/>
              </a:rPr>
              <a:t>skip 1.5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4983480" y="1975104"/>
            <a:ext cx="0" cy="1819656"/>
          </a:xfrm>
          <a:prstGeom prst="bentConnector3">
            <a:avLst/>
          </a:prstGeom>
          <a:ln w="22225">
            <a:solidFill>
              <a:srgbClr val="211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468880" y="1975104"/>
            <a:ext cx="2514600" cy="0"/>
          </a:xfrm>
          <a:prstGeom prst="bentConnector3">
            <a:avLst/>
          </a:prstGeom>
          <a:ln w="22225">
            <a:solidFill>
              <a:srgbClr val="211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468880" y="1975104"/>
            <a:ext cx="0" cy="265176"/>
          </a:xfrm>
          <a:prstGeom prst="line">
            <a:avLst/>
          </a:prstGeom>
          <a:ln w="22225">
            <a:solidFill>
              <a:srgbClr val="211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29000" y="168249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2FAF8"/>
                </a:solidFill>
                <a:latin typeface="Calibri"/>
              </a:rPr>
              <a:t>No — grow candidate set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983480" y="4846320"/>
            <a:ext cx="0" cy="548640"/>
          </a:xfrm>
          <a:prstGeom prst="line">
            <a:avLst/>
          </a:prstGeom>
          <a:ln w="22225">
            <a:solidFill>
              <a:srgbClr val="211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56632" y="486460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2FAF8"/>
                </a:solidFill>
                <a:latin typeface="Calibri"/>
              </a:rPr>
              <a:t>Yes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697480" y="6012180"/>
            <a:ext cx="1051560" cy="0"/>
          </a:xfrm>
          <a:prstGeom prst="line">
            <a:avLst/>
          </a:prstGeom>
          <a:ln w="22225">
            <a:solidFill>
              <a:srgbClr val="211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