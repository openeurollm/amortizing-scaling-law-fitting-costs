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795125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77AD"/>
    <a:srgbClr val="4D7D77"/>
    <a:srgbClr val="475697"/>
    <a:srgbClr val="E36621"/>
    <a:srgbClr val="F2FAF8"/>
    <a:srgbClr val="FFFFFF"/>
    <a:srgbClr val="C97B4B"/>
    <a:srgbClr val="245E57"/>
    <a:srgbClr val="5D7F79"/>
    <a:srgbClr val="C6E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8824" autoAdjust="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31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D3CDD03-86BC-350A-1848-1447773DB4B0}"/>
              </a:ext>
            </a:extLst>
          </p:cNvPr>
          <p:cNvGrpSpPr/>
          <p:nvPr/>
        </p:nvGrpSpPr>
        <p:grpSpPr>
          <a:xfrm>
            <a:off x="1508442" y="76409"/>
            <a:ext cx="8778240" cy="5608219"/>
            <a:chOff x="1417002" y="76409"/>
            <a:chExt cx="8778240" cy="5608219"/>
          </a:xfrm>
        </p:grpSpPr>
        <p:sp>
          <p:nvSpPr>
            <p:cNvPr id="2" name="Rounded Rectangle 1"/>
            <p:cNvSpPr/>
            <p:nvPr/>
          </p:nvSpPr>
          <p:spPr>
            <a:xfrm>
              <a:off x="1417002" y="76409"/>
              <a:ext cx="8778240" cy="3337560"/>
            </a:xfrm>
            <a:prstGeom prst="roundRect">
              <a:avLst/>
            </a:prstGeom>
            <a:solidFill>
              <a:srgbClr val="2A9D8F"/>
            </a:solidFill>
            <a:ln w="12700">
              <a:solidFill>
                <a:schemeClr val="tx1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0" tIns="73152" rtlCol="0" anchor="ctr"/>
            <a:lstStyle/>
            <a:p>
              <a:endParaRPr lang="en-US" sz="1000" i="1" dirty="0">
                <a:solidFill>
                  <a:srgbClr val="635C74"/>
                </a:solidFill>
                <a:latin typeface="Calibri"/>
              </a:endParaRPr>
            </a:p>
            <a:p>
              <a:endParaRPr lang="en-US" sz="1000" i="1" dirty="0">
                <a:solidFill>
                  <a:srgbClr val="635C74"/>
                </a:solidFill>
                <a:latin typeface="Calibri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Rounded Rectangle 2"/>
                <p:cNvSpPr/>
                <p:nvPr/>
              </p:nvSpPr>
              <p:spPr>
                <a:xfrm>
                  <a:off x="1782761" y="324169"/>
                  <a:ext cx="2468880" cy="971441"/>
                </a:xfrm>
                <a:prstGeom prst="roundRect">
                  <a:avLst/>
                </a:prstGeom>
                <a:solidFill>
                  <a:srgbClr val="F2FAF8"/>
                </a:solidFill>
                <a:ln w="19050">
                  <a:solidFill>
                    <a:srgbClr val="635C74"/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28016" tIns="109728" rIns="128016" rtlCol="0" anchor="t"/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>
                      <a:solidFill>
                        <a:schemeClr val="tx1"/>
                      </a:solidFill>
                      <a:latin typeface="Calibri"/>
                    </a:rPr>
                    <a:t>1.1 Define search space</a:t>
                  </a:r>
                </a:p>
                <a:p>
                  <a:pPr algn="ctr">
                    <a:spcAft>
                      <a:spcPts val="200"/>
                    </a:spcAft>
                  </a:pPr>
                  <a:r>
                    <a:rPr lang="en-US" sz="1200" dirty="0">
                      <a:solidFill>
                        <a:srgbClr val="4D7D77"/>
                      </a:solidFill>
                      <a:latin typeface="Calibri"/>
                    </a:rPr>
                    <a:t>Define </a:t>
                  </a:r>
                  <a14:m>
                    <m:oMath xmlns:m="http://schemas.openxmlformats.org/officeDocument/2006/math">
                      <m:r>
                        <a:rPr lang="en-US" sz="1200" i="1">
                          <a:solidFill>
                            <a:srgbClr val="4D7D77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1200" dirty="0">
                      <a:solidFill>
                        <a:srgbClr val="4D7D77"/>
                      </a:solidFill>
                      <a:latin typeface="Calibri"/>
                    </a:rPr>
                    <a:t> search space, </a:t>
                  </a:r>
                </a:p>
                <a:p>
                  <a:pPr algn="ctr">
                    <a:spcAft>
                      <a:spcPts val="2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rgbClr val="4D7D77"/>
                      </a:solidFill>
                      <a:latin typeface="Calibri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rgbClr val="4D7D77"/>
                      </a:solidFill>
                      <a:latin typeface="Calibri"/>
                    </a:rPr>
                    <a:t> budgets.</a:t>
                  </a:r>
                </a:p>
              </p:txBody>
            </p:sp>
          </mc:Choice>
          <mc:Fallback>
            <p:sp>
              <p:nvSpPr>
                <p:cNvPr id="3" name="Rounded 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2761" y="324169"/>
                  <a:ext cx="2468880" cy="971441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rgbClr val="635C74"/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Rounded Rectangle 3"/>
                <p:cNvSpPr/>
                <p:nvPr/>
              </p:nvSpPr>
              <p:spPr>
                <a:xfrm>
                  <a:off x="4571681" y="324169"/>
                  <a:ext cx="2468880" cy="971441"/>
                </a:xfrm>
                <a:prstGeom prst="roundRect">
                  <a:avLst/>
                </a:prstGeom>
                <a:solidFill>
                  <a:srgbClr val="F2FAF8"/>
                </a:solidFill>
                <a:ln w="19050">
                  <a:solidFill>
                    <a:srgbClr val="635C74"/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28016" tIns="109728" rIns="128016" rtlCol="0" anchor="t"/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>
                      <a:solidFill>
                        <a:schemeClr val="tx1"/>
                      </a:solidFill>
                      <a:latin typeface="Calibri"/>
                    </a:rPr>
                    <a:t>1.2 Initialize</a:t>
                  </a:r>
                </a:p>
                <a:p>
                  <a:pPr algn="ctr">
                    <a:spcAft>
                      <a:spcPts val="200"/>
                    </a:spcAft>
                  </a:pPr>
                  <a:r>
                    <a:rPr lang="en-US" sz="1200" dirty="0">
                      <a:solidFill>
                        <a:srgbClr val="4D7D77"/>
                      </a:solidFill>
                      <a:latin typeface="Calibri"/>
                    </a:rPr>
                    <a:t>Draw </a:t>
                  </a:r>
                  <a:r>
                    <a:rPr lang="en-US" sz="1000" b="1" dirty="0">
                      <a:solidFill>
                        <a:srgbClr val="4D7D77"/>
                      </a:solidFill>
                      <a:latin typeface="Consolas"/>
                    </a:rPr>
                    <a:t>n_init_points</a:t>
                  </a:r>
                  <a:r>
                    <a:rPr lang="en-US" sz="1200" dirty="0">
                      <a:solidFill>
                        <a:srgbClr val="4D7D77"/>
                      </a:solidFill>
                      <a:latin typeface="Calibri"/>
                    </a:rPr>
                    <a:t> within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rgbClr val="4D7D77"/>
                      </a:solidFill>
                      <a:latin typeface="Calibri"/>
                    </a:rPr>
                    <a:t>. Measure loss. Spend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4D7D77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200" b="0" i="1" smtClean="0">
                          <a:solidFill>
                            <a:srgbClr val="4D7D77"/>
                          </a:solidFill>
                          <a:latin typeface="Cambria Math" panose="02040503050406030204" pitchFamily="18" charset="0"/>
                        </a:rPr>
                        <m:t> ←∑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4D7D7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rgbClr val="4D7D77"/>
                      </a:solidFill>
                      <a:latin typeface="Calibri"/>
                    </a:rPr>
                    <a:t>.</a:t>
                  </a:r>
                  <a:endParaRPr sz="1200" dirty="0">
                    <a:solidFill>
                      <a:srgbClr val="4D7D77"/>
                    </a:solidFill>
                    <a:latin typeface="Calibri"/>
                  </a:endParaRPr>
                </a:p>
              </p:txBody>
            </p:sp>
          </mc:Choice>
          <mc:Fallback>
            <p:sp>
              <p:nvSpPr>
                <p:cNvPr id="4" name="Rounded 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1681" y="324169"/>
                  <a:ext cx="2468880" cy="971441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635C74"/>
                  </a:solidFill>
                  <a:prstDash val="solid"/>
                  <a:extLst>
                    <a:ext uri="{C807C97D-BFC1-408E-A445-0C87EB9F89A2}">
                      <ask:lineSketchStyleProps xmlns:ask="http://schemas.microsoft.com/office/drawing/2018/sketchyshapes">
                        <ask:type>
                          <ask:lineSketchNone/>
                        </ask:type>
                      </ask:lineSketchStyleProps>
                    </a:ext>
                  </a:extLst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ounded Rectangle 4"/>
            <p:cNvSpPr/>
            <p:nvPr/>
          </p:nvSpPr>
          <p:spPr>
            <a:xfrm>
              <a:off x="1782762" y="1912829"/>
              <a:ext cx="2468880" cy="1234440"/>
            </a:xfrm>
            <a:prstGeom prst="roundRect">
              <a:avLst/>
            </a:prstGeom>
            <a:solidFill>
              <a:srgbClr val="C6E8E2"/>
            </a:solidFill>
            <a:ln w="19050">
              <a:solidFill>
                <a:srgbClr val="211F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109728" rIns="128016" rtlCol="0" anchor="t"/>
            <a:lstStyle/>
            <a:p>
              <a:pPr algn="ctr">
                <a:spcAft>
                  <a:spcPts val="600"/>
                </a:spcAft>
              </a:pPr>
              <a:r>
                <a:rPr sz="1400" b="1" dirty="0">
                  <a:solidFill>
                    <a:schemeClr val="tx1"/>
                  </a:solidFill>
                  <a:latin typeface="Calibri"/>
                </a:rPr>
                <a:t>1.3 Next point </a:t>
              </a:r>
              <a:r>
                <a:rPr lang="en-US" sz="1400" b="1" dirty="0">
                  <a:solidFill>
                    <a:schemeClr val="tx1"/>
                  </a:solidFill>
                  <a:latin typeface="Calibri"/>
                </a:rPr>
                <a:t>selection</a:t>
              </a:r>
            </a:p>
            <a:p>
              <a:pPr algn="ctr">
                <a:spcAft>
                  <a:spcPts val="200"/>
                </a:spcAft>
              </a:pPr>
              <a:r>
                <a:rPr lang="en-US" sz="1200" dirty="0">
                  <a:solidFill>
                    <a:srgbClr val="245E57"/>
                  </a:solidFill>
                  <a:latin typeface="Calibri"/>
                </a:rPr>
                <a:t>Pick one point to acquire next </a:t>
              </a:r>
            </a:p>
            <a:p>
              <a:pPr algn="ctr">
                <a:spcAft>
                  <a:spcPts val="200"/>
                </a:spcAft>
              </a:pPr>
              <a:r>
                <a:rPr lang="en-US" sz="1200" dirty="0">
                  <a:solidFill>
                    <a:srgbClr val="245E57"/>
                  </a:solidFill>
                  <a:latin typeface="Calibri"/>
                </a:rPr>
                <a:t>based on </a:t>
              </a:r>
              <a:r>
                <a:rPr lang="en-US" sz="1200" b="1" dirty="0">
                  <a:solidFill>
                    <a:srgbClr val="245E57"/>
                  </a:solidFill>
                  <a:latin typeface="Calibri"/>
                </a:rPr>
                <a:t>selection strategy</a:t>
              </a:r>
              <a:r>
                <a:rPr lang="en-US" sz="1200" dirty="0">
                  <a:solidFill>
                    <a:srgbClr val="245E57"/>
                  </a:solidFill>
                  <a:latin typeface="Calibri"/>
                </a:rPr>
                <a:t>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Rounded Rectangle 5"/>
                <p:cNvSpPr/>
                <p:nvPr/>
              </p:nvSpPr>
              <p:spPr>
                <a:xfrm>
                  <a:off x="4571682" y="1912829"/>
                  <a:ext cx="2468880" cy="1234440"/>
                </a:xfrm>
                <a:prstGeom prst="roundRect">
                  <a:avLst/>
                </a:prstGeom>
                <a:solidFill>
                  <a:srgbClr val="C6E8E2"/>
                </a:solidFill>
                <a:ln w="19050">
                  <a:solidFill>
                    <a:srgbClr val="211F2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28016" tIns="109728" rIns="128016" rtlCol="0" anchor="t"/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>
                      <a:solidFill>
                        <a:schemeClr val="tx1"/>
                      </a:solidFill>
                      <a:latin typeface="Calibri"/>
                    </a:rPr>
                    <a:t>1.4 Data collection</a:t>
                  </a:r>
                </a:p>
                <a:p>
                  <a:pPr algn="ctr">
                    <a:spcAft>
                      <a:spcPts val="200"/>
                    </a:spcAft>
                  </a:pPr>
                  <a:r>
                    <a:rPr lang="en-US" sz="1200" dirty="0">
                      <a:solidFill>
                        <a:srgbClr val="245E57"/>
                      </a:solidFill>
                      <a:latin typeface="Calibri"/>
                    </a:rPr>
                    <a:t>Measure that point's loss. </a:t>
                  </a:r>
                </a:p>
                <a:p>
                  <a:pPr algn="ctr">
                    <a:spcAft>
                      <a:spcPts val="200"/>
                    </a:spcAft>
                  </a:pPr>
                  <a:r>
                    <a:rPr lang="en-US" sz="1200" dirty="0">
                      <a:solidFill>
                        <a:srgbClr val="245E57"/>
                      </a:solidFill>
                      <a:latin typeface="Calibri"/>
                    </a:rPr>
                    <a:t>Spend </a:t>
                  </a:r>
                  <a14:m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245E57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200" b="0" i="1" smtClean="0">
                          <a:solidFill>
                            <a:srgbClr val="245E57"/>
                          </a:solidFill>
                          <a:latin typeface="Cambria Math" panose="02040503050406030204" pitchFamily="18" charset="0"/>
                        </a:rPr>
                        <m:t> ←</m:t>
                      </m:r>
                      <m:r>
                        <a:rPr lang="en-US" sz="1200" b="0" i="1" smtClean="0">
                          <a:solidFill>
                            <a:srgbClr val="245E5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1200" b="0" i="1" smtClean="0">
                          <a:solidFill>
                            <a:srgbClr val="245E5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245E5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245E5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245E57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200" dirty="0">
                      <a:solidFill>
                        <a:srgbClr val="245E57"/>
                      </a:solidFill>
                      <a:latin typeface="Calibri"/>
                    </a:rPr>
                    <a:t>.</a:t>
                  </a:r>
                </a:p>
              </p:txBody>
            </p:sp>
          </mc:Choice>
          <mc:Fallback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1682" y="1912829"/>
                  <a:ext cx="2468880" cy="1234440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rgbClr val="211F2E"/>
                  </a:solidFill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ounded Rectangle 6"/>
            <p:cNvSpPr/>
            <p:nvPr/>
          </p:nvSpPr>
          <p:spPr>
            <a:xfrm>
              <a:off x="7360602" y="1893678"/>
              <a:ext cx="2468881" cy="1234440"/>
            </a:xfrm>
            <a:prstGeom prst="roundRect">
              <a:avLst/>
            </a:prstGeom>
            <a:solidFill>
              <a:srgbClr val="C6E8E2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28016" tIns="109728" rIns="128016" rtlCol="0" anchor="t"/>
            <a:lstStyle/>
            <a:p>
              <a:pPr algn="ctr">
                <a:spcAft>
                  <a:spcPts val="600"/>
                </a:spcAft>
              </a:pPr>
              <a:r>
                <a:rPr sz="1400" b="1" dirty="0">
                  <a:solidFill>
                    <a:schemeClr val="tx1"/>
                  </a:solidFill>
                  <a:latin typeface="Calibri"/>
                </a:rPr>
                <a:t>1.5 Fantasize</a:t>
              </a:r>
            </a:p>
            <a:p>
              <a:pPr algn="ctr">
                <a:spcAft>
                  <a:spcPts val="200"/>
                </a:spcAft>
              </a:pPr>
              <a:r>
                <a:rPr sz="1200" dirty="0">
                  <a:solidFill>
                    <a:srgbClr val="245E57"/>
                  </a:solidFill>
                  <a:latin typeface="Calibri"/>
                </a:rPr>
                <a:t>Fit a </a:t>
              </a:r>
              <a:r>
                <a:rPr sz="1200" b="1" dirty="0">
                  <a:solidFill>
                    <a:srgbClr val="245E57"/>
                  </a:solidFill>
                  <a:latin typeface="Calibri"/>
                </a:rPr>
                <a:t>surrogate </a:t>
              </a:r>
              <a:r>
                <a:rPr sz="1200" dirty="0">
                  <a:solidFill>
                    <a:srgbClr val="245E57"/>
                  </a:solidFill>
                  <a:latin typeface="Calibri"/>
                </a:rPr>
                <a:t>and predict loss</a:t>
              </a:r>
              <a:endParaRPr lang="en-US" sz="1200" dirty="0">
                <a:solidFill>
                  <a:srgbClr val="245E57"/>
                </a:solidFill>
                <a:latin typeface="Calibri"/>
              </a:endParaRPr>
            </a:p>
            <a:p>
              <a:pPr algn="ctr">
                <a:spcAft>
                  <a:spcPts val="200"/>
                </a:spcAft>
              </a:pPr>
              <a:r>
                <a:rPr sz="1200" dirty="0">
                  <a:solidFill>
                    <a:srgbClr val="245E57"/>
                  </a:solidFill>
                  <a:latin typeface="Calibri"/>
                </a:rPr>
                <a:t> </a:t>
              </a:r>
              <a:r>
                <a:rPr lang="en-US" sz="1200" dirty="0">
                  <a:solidFill>
                    <a:srgbClr val="245E57"/>
                  </a:solidFill>
                  <a:latin typeface="Calibri"/>
                </a:rPr>
                <a:t>for remaining points</a:t>
              </a:r>
              <a:r>
                <a:rPr sz="1200" dirty="0">
                  <a:solidFill>
                    <a:srgbClr val="245E57"/>
                  </a:solidFill>
                  <a:latin typeface="Calibri"/>
                </a:rPr>
                <a:t>.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Rounded Rectangle 7"/>
                <p:cNvSpPr/>
                <p:nvPr/>
              </p:nvSpPr>
              <p:spPr>
                <a:xfrm>
                  <a:off x="4571681" y="4816149"/>
                  <a:ext cx="2468880" cy="868479"/>
                </a:xfrm>
                <a:prstGeom prst="roundRect">
                  <a:avLst/>
                </a:prstGeom>
                <a:solidFill>
                  <a:srgbClr val="8F77AD"/>
                </a:solidFill>
                <a:ln w="19050">
                  <a:solidFill>
                    <a:srgbClr val="211F2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28016" tIns="109728" rIns="128016" rtlCol="0" anchor="t"/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b="1" dirty="0">
                      <a:solidFill>
                        <a:schemeClr val="tx1"/>
                      </a:solidFill>
                      <a:latin typeface="Calibri"/>
                    </a:rPr>
                    <a:t>2. Scaling law fitting</a:t>
                  </a:r>
                </a:p>
                <a:p>
                  <a:pPr algn="ctr">
                    <a:spcAft>
                      <a:spcPts val="200"/>
                    </a:spcAft>
                  </a:pPr>
                  <a:r>
                    <a:rPr lang="en-US" sz="1200" dirty="0">
                      <a:solidFill>
                        <a:srgbClr val="E3E8F8"/>
                      </a:solidFill>
                      <a:latin typeface="Calibri"/>
                    </a:rPr>
                    <a:t>Recover parameters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solidFill>
                                <a:srgbClr val="E3E8F8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rgbClr val="E3E8F8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a14:m>
                  <a:r>
                    <a:rPr lang="en-US" sz="1200" dirty="0">
                      <a:solidFill>
                        <a:srgbClr val="E3E8F8"/>
                      </a:solidFill>
                      <a:latin typeface="Calibri"/>
                    </a:rPr>
                    <a:t>.</a:t>
                  </a:r>
                  <a:endParaRPr sz="1200" dirty="0">
                    <a:solidFill>
                      <a:srgbClr val="E3E8F8"/>
                    </a:solidFill>
                    <a:latin typeface="Calibri"/>
                  </a:endParaRPr>
                </a:p>
              </p:txBody>
            </p:sp>
          </mc:Choice>
          <mc:Fallback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1681" y="4816149"/>
                  <a:ext cx="2468880" cy="868479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>
                  <a:solidFill>
                    <a:srgbClr val="211F2E"/>
                  </a:solidFill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ounded Rectangle 8"/>
                <p:cNvSpPr/>
                <p:nvPr/>
              </p:nvSpPr>
              <p:spPr>
                <a:xfrm>
                  <a:off x="1417002" y="4816149"/>
                  <a:ext cx="2468880" cy="868479"/>
                </a:xfrm>
                <a:prstGeom prst="roundRect">
                  <a:avLst/>
                </a:prstGeom>
                <a:solidFill>
                  <a:schemeClr val="accent6">
                    <a:lumMod val="75000"/>
                  </a:schemeClr>
                </a:solidFill>
                <a:ln w="19050">
                  <a:solidFill>
                    <a:srgbClr val="211F2E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28016" tIns="109728" rIns="128016" rtlCol="0" anchor="t"/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b="1" dirty="0">
                      <a:solidFill>
                        <a:schemeClr val="tx1"/>
                      </a:solidFill>
                      <a:latin typeface="Calibri"/>
                    </a:rPr>
                    <a:t>3. Evaluation</a:t>
                  </a:r>
                </a:p>
                <a:p>
                  <a:pPr algn="ctr">
                    <a:spcAft>
                      <a:spcPts val="200"/>
                    </a:spcAft>
                  </a:pPr>
                  <a:r>
                    <a:rPr lang="en-US" sz="1200" dirty="0">
                      <a:solidFill>
                        <a:srgbClr val="F6E9CF"/>
                      </a:solidFill>
                      <a:latin typeface="Calibri"/>
                    </a:rPr>
                    <a:t>Compare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i="1" smtClean="0">
                              <a:solidFill>
                                <a:srgbClr val="F6E9C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solidFill>
                                <a:srgbClr val="F6E9C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a14:m>
                  <a:r>
                    <a:rPr lang="en-US" sz="1200" dirty="0">
                      <a:solidFill>
                        <a:srgbClr val="F6E9CF"/>
                      </a:solidFill>
                      <a:latin typeface="Calibri"/>
                    </a:rPr>
                    <a:t> against ground truth.</a:t>
                  </a:r>
                  <a:endParaRPr sz="1200" dirty="0">
                    <a:solidFill>
                      <a:srgbClr val="F6E9CF"/>
                    </a:solidFill>
                    <a:latin typeface="Calibri"/>
                  </a:endParaRPr>
                </a:p>
              </p:txBody>
            </p:sp>
          </mc:Choice>
          <mc:Fallback>
            <p:sp>
              <p:nvSpPr>
                <p:cNvPr id="9" name="Rounded 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002" y="4816149"/>
                  <a:ext cx="2468880" cy="868479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rgbClr val="211F2E"/>
                  </a:solidFill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nector 11"/>
            <p:cNvCxnSpPr/>
            <p:nvPr/>
          </p:nvCxnSpPr>
          <p:spPr>
            <a:xfrm>
              <a:off x="4251642" y="2530049"/>
              <a:ext cx="320040" cy="0"/>
            </a:xfrm>
            <a:prstGeom prst="line">
              <a:avLst/>
            </a:prstGeom>
            <a:ln w="22225">
              <a:solidFill>
                <a:srgbClr val="211F2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040562" y="2530049"/>
              <a:ext cx="320040" cy="0"/>
            </a:xfrm>
            <a:prstGeom prst="line">
              <a:avLst/>
            </a:prstGeom>
            <a:ln w="22225">
              <a:solidFill>
                <a:srgbClr val="211F2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BEC1AB-90AE-93C3-FEBB-B7AA2395A0E4}"/>
                </a:ext>
              </a:extLst>
            </p:cNvPr>
            <p:cNvSpPr txBox="1"/>
            <p:nvPr/>
          </p:nvSpPr>
          <p:spPr>
            <a:xfrm>
              <a:off x="7868240" y="324169"/>
              <a:ext cx="19612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1. Data acquisition</a:t>
              </a:r>
              <a:endParaRPr lang="LID4096" b="1" dirty="0"/>
            </a:p>
          </p:txBody>
        </p: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520DB17D-2716-1CB9-CD9B-B09E95BCE466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rot="5400000">
              <a:off x="4103053" y="209760"/>
              <a:ext cx="617219" cy="278891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Diamond 24">
                  <a:extLst>
                    <a:ext uri="{FF2B5EF4-FFF2-40B4-BE49-F238E27FC236}">
                      <a16:creationId xmlns:a16="http://schemas.microsoft.com/office/drawing/2014/main" id="{7F48286B-DBA9-AF23-BBFB-DE1F591B2317}"/>
                    </a:ext>
                  </a:extLst>
                </p:cNvPr>
                <p:cNvSpPr/>
                <p:nvPr/>
              </p:nvSpPr>
              <p:spPr>
                <a:xfrm>
                  <a:off x="4830249" y="3566214"/>
                  <a:ext cx="1951745" cy="806822"/>
                </a:xfrm>
                <a:prstGeom prst="diamond">
                  <a:avLst/>
                </a:prstGeom>
                <a:solidFill>
                  <a:srgbClr val="F2FAF8"/>
                </a:solidFill>
                <a:ln w="190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 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</m:oMath>
                  </a14:m>
                  <a:r>
                    <a:rPr lang="en-US" sz="1100" dirty="0">
                      <a:solidFill>
                        <a:schemeClr val="tx1"/>
                      </a:solidFill>
                    </a:rPr>
                    <a:t>?</a:t>
                  </a:r>
                  <a:endParaRPr lang="LID4096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" name="Diamond 24">
                  <a:extLst>
                    <a:ext uri="{FF2B5EF4-FFF2-40B4-BE49-F238E27FC236}">
                      <a16:creationId xmlns:a16="http://schemas.microsoft.com/office/drawing/2014/main" id="{7F48286B-DBA9-AF23-BBFB-DE1F591B23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0249" y="3566214"/>
                  <a:ext cx="1951745" cy="806822"/>
                </a:xfrm>
                <a:prstGeom prst="diamond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910EBAE5-32C6-078B-DC7A-8D842F36BD08}"/>
                </a:ext>
              </a:extLst>
            </p:cNvPr>
            <p:cNvCxnSpPr>
              <a:cxnSpLocks/>
              <a:stCxn id="7" idx="2"/>
              <a:endCxn id="25" idx="3"/>
            </p:cNvCxnSpPr>
            <p:nvPr/>
          </p:nvCxnSpPr>
          <p:spPr>
            <a:xfrm rot="5400000">
              <a:off x="7267766" y="2642347"/>
              <a:ext cx="841507" cy="181304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8E660344-4428-CCBF-CB9A-05F7DD07E8B8}"/>
                </a:ext>
              </a:extLst>
            </p:cNvPr>
            <p:cNvCxnSpPr>
              <a:cxnSpLocks/>
              <a:stCxn id="25" idx="1"/>
              <a:endCxn id="5" idx="2"/>
            </p:cNvCxnSpPr>
            <p:nvPr/>
          </p:nvCxnSpPr>
          <p:spPr>
            <a:xfrm rot="10800000">
              <a:off x="3017203" y="3147269"/>
              <a:ext cx="1813047" cy="82235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210DDFF-4BB4-E43F-E54A-8549F102250C}"/>
                </a:ext>
              </a:extLst>
            </p:cNvPr>
            <p:cNvCxnSpPr>
              <a:stCxn id="8" idx="1"/>
              <a:endCxn id="9" idx="3"/>
            </p:cNvCxnSpPr>
            <p:nvPr/>
          </p:nvCxnSpPr>
          <p:spPr>
            <a:xfrm flipH="1">
              <a:off x="3885882" y="5250389"/>
              <a:ext cx="68579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96D28DD5-752B-EFD8-D827-88EA62566D5A}"/>
                </a:ext>
              </a:extLst>
            </p:cNvPr>
            <p:cNvCxnSpPr>
              <a:stCxn id="25" idx="2"/>
              <a:endCxn id="8" idx="0"/>
            </p:cNvCxnSpPr>
            <p:nvPr/>
          </p:nvCxnSpPr>
          <p:spPr>
            <a:xfrm rot="5400000">
              <a:off x="5584566" y="4594592"/>
              <a:ext cx="443113" cy="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79C8F91-D910-EC94-8165-D0412DCF9434}"/>
                </a:ext>
              </a:extLst>
            </p:cNvPr>
            <p:cNvSpPr txBox="1"/>
            <p:nvPr/>
          </p:nvSpPr>
          <p:spPr>
            <a:xfrm>
              <a:off x="5860206" y="4399363"/>
              <a:ext cx="382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Yes</a:t>
              </a:r>
              <a:endParaRPr lang="LID4096" sz="1200" i="1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8F0A031-1323-E1DC-3C84-1E7B516C638D}"/>
                </a:ext>
              </a:extLst>
            </p:cNvPr>
            <p:cNvSpPr txBox="1"/>
            <p:nvPr/>
          </p:nvSpPr>
          <p:spPr>
            <a:xfrm>
              <a:off x="3742426" y="3680301"/>
              <a:ext cx="3626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/>
                <a:t>No</a:t>
              </a:r>
              <a:endParaRPr lang="LID4096" sz="1200" i="1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7DB8EE6-C9DF-7C2F-6752-68927ED60BD0}"/>
                </a:ext>
              </a:extLst>
            </p:cNvPr>
            <p:cNvCxnSpPr>
              <a:stCxn id="6" idx="2"/>
              <a:endCxn id="25" idx="0"/>
            </p:cNvCxnSpPr>
            <p:nvPr/>
          </p:nvCxnSpPr>
          <p:spPr>
            <a:xfrm>
              <a:off x="5806122" y="3147269"/>
              <a:ext cx="0" cy="4189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4A18525-8FFF-3FC5-B17E-B760F23728C6}"/>
                </a:ext>
              </a:extLst>
            </p:cNvPr>
            <p:cNvCxnSpPr>
              <a:stCxn id="3" idx="3"/>
              <a:endCxn id="4" idx="1"/>
            </p:cNvCxnSpPr>
            <p:nvPr/>
          </p:nvCxnSpPr>
          <p:spPr>
            <a:xfrm>
              <a:off x="4251641" y="809890"/>
              <a:ext cx="32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2E2AC7-7716-E0F1-266A-65970BA818AF}"/>
                </a:ext>
              </a:extLst>
            </p:cNvPr>
            <p:cNvSpPr txBox="1"/>
            <p:nvPr/>
          </p:nvSpPr>
          <p:spPr>
            <a:xfrm>
              <a:off x="9114223" y="2823367"/>
              <a:ext cx="71526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i="1" dirty="0">
                  <a:solidFill>
                    <a:srgbClr val="4D7D77"/>
                  </a:solidFill>
                </a:rPr>
                <a:t>(optional)</a:t>
              </a:r>
              <a:endParaRPr lang="LID4096" sz="1050" i="1" dirty="0">
                <a:solidFill>
                  <a:srgbClr val="4D7D77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107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Consolas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Onuţu, Diana</cp:lastModifiedBy>
  <cp:revision>62</cp:revision>
  <dcterms:created xsi:type="dcterms:W3CDTF">2013-01-27T09:14:16Z</dcterms:created>
  <dcterms:modified xsi:type="dcterms:W3CDTF">2026-08-06T15:44:12Z</dcterms:modified>
  <cp:category/>
</cp:coreProperties>
</file>