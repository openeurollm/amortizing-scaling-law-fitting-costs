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61838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26" y="1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051560"/>
            <a:ext cx="2560320" cy="13716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spcAft>
                <a:spcPts val="600"/>
              </a:spcAft>
            </a:pPr>
            <a:r>
              <a:rPr sz="1500" b="1" dirty="0">
                <a:solidFill>
                  <a:srgbClr val="211F2E"/>
                </a:solidFill>
                <a:latin typeface="Calibri"/>
              </a:rPr>
              <a:t>1. Data acquisition</a:t>
            </a:r>
          </a:p>
          <a:p>
            <a:pPr algn="ctr"/>
            <a:r>
              <a:rPr lang="en-US" sz="1150" dirty="0">
                <a:solidFill>
                  <a:srgbClr val="635C74"/>
                </a:solidFill>
                <a:latin typeface="Calibri"/>
              </a:rPr>
              <a:t>Select and measure points, </a:t>
            </a:r>
          </a:p>
          <a:p>
            <a:pPr algn="ctr"/>
            <a:r>
              <a:rPr lang="en-US" sz="1150" dirty="0">
                <a:solidFill>
                  <a:srgbClr val="635C74"/>
                </a:solidFill>
                <a:latin typeface="Calibri"/>
              </a:rPr>
              <a:t>spend up to budget B.</a:t>
            </a:r>
            <a:endParaRPr sz="1150" dirty="0">
              <a:solidFill>
                <a:srgbClr val="635C74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37560" y="1051560"/>
            <a:ext cx="2560320" cy="13716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spcAft>
                <a:spcPts val="600"/>
              </a:spcAft>
            </a:pPr>
            <a:r>
              <a:rPr sz="1500" b="1" dirty="0">
                <a:solidFill>
                  <a:srgbClr val="211F2E"/>
                </a:solidFill>
                <a:latin typeface="Calibri"/>
              </a:rPr>
              <a:t>2. Fantasize points</a:t>
            </a:r>
          </a:p>
          <a:p>
            <a:pPr algn="ctr"/>
            <a:r>
              <a:rPr sz="1150" dirty="0">
                <a:solidFill>
                  <a:srgbClr val="635C74"/>
                </a:solidFill>
                <a:latin typeface="Calibri"/>
              </a:rPr>
              <a:t>Fit a surrogate and predict loss across the grid.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6217920" y="1051560"/>
                <a:ext cx="2560320" cy="1371600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46304" rIns="146304"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500" b="1" dirty="0">
                    <a:solidFill>
                      <a:srgbClr val="211F2E"/>
                    </a:solidFill>
                    <a:latin typeface="Calibri"/>
                  </a:rPr>
                  <a:t>3. Fit scaling law</a:t>
                </a:r>
              </a:p>
              <a:p>
                <a:pPr algn="ctr"/>
                <a:r>
                  <a:rPr lang="en-US" sz="1150" dirty="0">
                    <a:solidFill>
                      <a:srgbClr val="635C74"/>
                    </a:solidFill>
                    <a:latin typeface="Calibri"/>
                  </a:rPr>
                  <a:t>Recover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50" i="1">
                            <a:solidFill>
                              <a:srgbClr val="635C7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150" i="1">
                            <a:solidFill>
                              <a:srgbClr val="635C74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150" dirty="0">
                    <a:solidFill>
                      <a:srgbClr val="635C74"/>
                    </a:solidFill>
                    <a:latin typeface="Calibri"/>
                  </a:rPr>
                  <a:t>.</a:t>
                </a:r>
                <a:endParaRPr sz="1150" dirty="0">
                  <a:solidFill>
                    <a:srgbClr val="635C74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1051560"/>
                <a:ext cx="2560320" cy="1371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9098280" y="1051560"/>
                <a:ext cx="2560320" cy="1371600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46304" rIns="146304"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500" b="1" dirty="0">
                    <a:solidFill>
                      <a:srgbClr val="211F2E"/>
                    </a:solidFill>
                    <a:latin typeface="Calibri"/>
                  </a:rPr>
                  <a:t>4. Evaluate</a:t>
                </a:r>
              </a:p>
              <a:p>
                <a:pPr algn="ctr"/>
                <a:r>
                  <a:rPr lang="en-US" sz="1150" dirty="0">
                    <a:solidFill>
                      <a:srgbClr val="635C74"/>
                    </a:solidFill>
                    <a:latin typeface="Calibri"/>
                  </a:rPr>
                  <a:t>Check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50" i="1" smtClean="0">
                            <a:solidFill>
                              <a:srgbClr val="635C7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150" b="0" i="1" smtClean="0">
                            <a:solidFill>
                              <a:srgbClr val="635C74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150" dirty="0">
                    <a:solidFill>
                      <a:srgbClr val="635C74"/>
                    </a:solidFill>
                    <a:latin typeface="Calibri"/>
                  </a:rPr>
                  <a:t> against ground truth.</a:t>
                </a:r>
                <a:endParaRPr sz="1150" dirty="0">
                  <a:solidFill>
                    <a:srgbClr val="635C74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280" y="1051560"/>
                <a:ext cx="2560320" cy="1371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or 5"/>
          <p:cNvCxnSpPr/>
          <p:nvPr/>
        </p:nvCxnSpPr>
        <p:spPr>
          <a:xfrm>
            <a:off x="3017520" y="173736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97879" y="1737360"/>
            <a:ext cx="320041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1737360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378440" y="502920"/>
            <a:ext cx="0" cy="548640"/>
          </a:xfrm>
          <a:prstGeom prst="line">
            <a:avLst/>
          </a:prstGeom>
          <a:ln w="28575">
            <a:solidFill>
              <a:srgbClr val="1E8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737360" y="502920"/>
            <a:ext cx="8641080" cy="0"/>
          </a:xfrm>
          <a:prstGeom prst="line">
            <a:avLst/>
          </a:prstGeom>
          <a:ln w="28575">
            <a:solidFill>
              <a:srgbClr val="1E8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37360" y="502920"/>
            <a:ext cx="0" cy="548640"/>
          </a:xfrm>
          <a:prstGeom prst="line">
            <a:avLst/>
          </a:prstGeom>
          <a:ln w="28575">
            <a:solidFill>
              <a:srgbClr val="1E8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34839" y="259471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solidFill>
                  <a:srgbClr val="1E8F6B"/>
                </a:solidFill>
                <a:latin typeface="Calibri"/>
              </a:rPr>
              <a:t>B</a:t>
            </a:r>
            <a:r>
              <a:rPr sz="1200" b="1" i="1" dirty="0">
                <a:solidFill>
                  <a:srgbClr val="1E8F6B"/>
                </a:solidFill>
                <a:latin typeface="Calibri"/>
              </a:rPr>
              <a:t>udget grows each round</a:t>
            </a:r>
            <a:r>
              <a:rPr lang="en-US" sz="1200" b="1" i="1" dirty="0">
                <a:solidFill>
                  <a:srgbClr val="1E8F6B"/>
                </a:solidFill>
                <a:latin typeface="Calibri"/>
              </a:rPr>
              <a:t> up to given limit.</a:t>
            </a:r>
            <a:endParaRPr sz="1200" b="1" i="1" dirty="0">
              <a:solidFill>
                <a:srgbClr val="1E8F6B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Onuţu, Diana</cp:lastModifiedBy>
  <cp:revision>8</cp:revision>
  <dcterms:created xsi:type="dcterms:W3CDTF">2013-01-27T09:14:16Z</dcterms:created>
  <dcterms:modified xsi:type="dcterms:W3CDTF">2026-08-05T12:54:25Z</dcterms:modified>
  <cp:category/>
</cp:coreProperties>
</file>