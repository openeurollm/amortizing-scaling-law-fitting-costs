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795125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697"/>
    <a:srgbClr val="E36621"/>
    <a:srgbClr val="F2FAF8"/>
    <a:srgbClr val="FFFFFF"/>
    <a:srgbClr val="C97B4B"/>
    <a:srgbClr val="4D7D77"/>
    <a:srgbClr val="245E57"/>
    <a:srgbClr val="5D7F79"/>
    <a:srgbClr val="C6E8E2"/>
    <a:srgbClr val="F6E9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3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443" y="86710"/>
            <a:ext cx="8961120" cy="3337560"/>
          </a:xfrm>
          <a:prstGeom prst="roundRect">
            <a:avLst/>
          </a:prstGeom>
          <a:solidFill>
            <a:srgbClr val="2A9D8F"/>
          </a:solidFill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endParaRPr lang="en-US" sz="1000" i="1" dirty="0">
              <a:solidFill>
                <a:srgbClr val="635C74"/>
              </a:solidFill>
              <a:latin typeface="Calibri"/>
            </a:endParaRPr>
          </a:p>
          <a:p>
            <a:endParaRPr lang="en-US" sz="1000" i="1" dirty="0">
              <a:solidFill>
                <a:srgbClr val="635C74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/>
              <p:cNvSpPr/>
              <p:nvPr/>
            </p:nvSpPr>
            <p:spPr>
              <a:xfrm>
                <a:off x="1874202" y="334470"/>
                <a:ext cx="2468880" cy="1234440"/>
              </a:xfrm>
              <a:prstGeom prst="roundRect">
                <a:avLst/>
              </a:prstGeom>
              <a:solidFill>
                <a:srgbClr val="F2FAF8"/>
              </a:solid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Calibri"/>
                  </a:rPr>
                  <a:t>1.1 Define search space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configuration search space,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budgets.</a:t>
                </a:r>
              </a:p>
            </p:txBody>
          </p:sp>
        </mc:Choice>
        <mc:Fallback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202" y="334470"/>
                <a:ext cx="2468880" cy="1234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4663122" y="334470"/>
                <a:ext cx="2468880" cy="1234440"/>
              </a:xfrm>
              <a:prstGeom prst="roundRect">
                <a:avLst/>
              </a:prstGeom>
              <a:solidFill>
                <a:srgbClr val="F2FAF8"/>
              </a:solid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Calibri"/>
                  </a:rPr>
                  <a:t>1.2 Initialize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Draw </a:t>
                </a:r>
                <a:r>
                  <a:rPr lang="en-US" sz="1000" b="1" dirty="0" err="1">
                    <a:solidFill>
                      <a:srgbClr val="4D7D77"/>
                    </a:solidFill>
                    <a:latin typeface="Consolas"/>
                  </a:rPr>
                  <a:t>init_configs</a:t>
                </a:r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. Collect loss. Spend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 ←∑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.</a:t>
                </a:r>
                <a:endParaRPr sz="1200" dirty="0">
                  <a:solidFill>
                    <a:srgbClr val="4D7D77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22" y="334470"/>
                <a:ext cx="2468880" cy="12344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1874203" y="1923130"/>
            <a:ext cx="2468880" cy="1234440"/>
          </a:xfrm>
          <a:prstGeom prst="roundRect">
            <a:avLst/>
          </a:prstGeom>
          <a:solidFill>
            <a:srgbClr val="C6E8E2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t"/>
          <a:lstStyle/>
          <a:p>
            <a:pPr algn="ctr">
              <a:spcAft>
                <a:spcPts val="600"/>
              </a:spcAft>
            </a:pPr>
            <a:r>
              <a:rPr sz="1400" b="1" dirty="0">
                <a:solidFill>
                  <a:schemeClr val="tx1"/>
                </a:solidFill>
                <a:latin typeface="Calibri"/>
              </a:rPr>
              <a:t>1.3 Next point </a:t>
            </a:r>
            <a:r>
              <a:rPr lang="en-US" sz="1400" b="1" dirty="0">
                <a:solidFill>
                  <a:schemeClr val="tx1"/>
                </a:solidFill>
                <a:latin typeface="Calibri"/>
              </a:rPr>
              <a:t>selection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45E57"/>
                </a:solidFill>
                <a:latin typeface="Calibri"/>
              </a:rPr>
              <a:t>Pick one point to acquire next 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45E57"/>
                </a:solidFill>
                <a:latin typeface="Calibri"/>
              </a:rPr>
              <a:t>based on </a:t>
            </a:r>
            <a:r>
              <a:rPr lang="en-US" sz="1200" b="1" dirty="0">
                <a:solidFill>
                  <a:srgbClr val="245E57"/>
                </a:solidFill>
                <a:latin typeface="Calibri"/>
              </a:rPr>
              <a:t>selection strategy</a:t>
            </a:r>
            <a:r>
              <a:rPr lang="en-US" sz="1200" dirty="0">
                <a:solidFill>
                  <a:srgbClr val="245E57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663123" y="1923130"/>
                <a:ext cx="2468880" cy="1234440"/>
              </a:xfrm>
              <a:prstGeom prst="roundRect">
                <a:avLst/>
              </a:prstGeom>
              <a:solidFill>
                <a:srgbClr val="C6E8E2"/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Calibri"/>
                  </a:rPr>
                  <a:t>1.4 Data collection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245E57"/>
                    </a:solidFill>
                    <a:latin typeface="Calibri"/>
                  </a:rPr>
                  <a:t>Collect that point's loss, spend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245E57"/>
                    </a:solidFill>
                    <a:latin typeface="Calibri"/>
                  </a:rPr>
                  <a:t>.</a:t>
                </a:r>
              </a:p>
              <a:p>
                <a:pPr algn="ctr"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245E57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23" y="1923130"/>
                <a:ext cx="2468880" cy="1234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452043" y="1923130"/>
            <a:ext cx="2468880" cy="1234440"/>
          </a:xfrm>
          <a:prstGeom prst="roundRect">
            <a:avLst/>
          </a:prstGeom>
          <a:solidFill>
            <a:srgbClr val="C6E8E2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t"/>
          <a:lstStyle/>
          <a:p>
            <a:pPr algn="ctr">
              <a:spcAft>
                <a:spcPts val="600"/>
              </a:spcAft>
            </a:pPr>
            <a:r>
              <a:rPr sz="1400" b="1" dirty="0">
                <a:solidFill>
                  <a:schemeClr val="tx1"/>
                </a:solidFill>
                <a:latin typeface="Calibri"/>
              </a:rPr>
              <a:t>1.5 Fantasize </a:t>
            </a:r>
            <a:r>
              <a:rPr lang="en-US" sz="1400" b="1" dirty="0">
                <a:solidFill>
                  <a:schemeClr val="tx1"/>
                </a:solidFill>
                <a:latin typeface="Calibri"/>
              </a:rPr>
              <a:t>extended configuration space</a:t>
            </a:r>
            <a:endParaRPr sz="1400" b="1" dirty="0">
              <a:solidFill>
                <a:schemeClr val="tx1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200" dirty="0">
                <a:solidFill>
                  <a:srgbClr val="245E57"/>
                </a:solidFill>
                <a:latin typeface="Calibri"/>
              </a:rPr>
              <a:t>Fit a </a:t>
            </a:r>
            <a:r>
              <a:rPr sz="1200" b="1" dirty="0">
                <a:solidFill>
                  <a:srgbClr val="245E57"/>
                </a:solidFill>
                <a:latin typeface="Calibri"/>
              </a:rPr>
              <a:t>surrogate model</a:t>
            </a:r>
            <a:r>
              <a:rPr sz="1200" dirty="0">
                <a:solidFill>
                  <a:srgbClr val="245E57"/>
                </a:solidFill>
                <a:latin typeface="Calibri"/>
              </a:rPr>
              <a:t> and predict loss across the </a:t>
            </a:r>
            <a:r>
              <a:rPr lang="en-US" sz="1200" dirty="0">
                <a:solidFill>
                  <a:srgbClr val="245E57"/>
                </a:solidFill>
                <a:latin typeface="Calibri"/>
              </a:rPr>
              <a:t>remaining configuration space</a:t>
            </a:r>
            <a:r>
              <a:rPr sz="1200" dirty="0">
                <a:solidFill>
                  <a:srgbClr val="245E57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4663122" y="4826450"/>
                <a:ext cx="2468880" cy="868479"/>
              </a:xfrm>
              <a:prstGeom prst="roundRect">
                <a:avLst/>
              </a:prstGeom>
              <a:solidFill>
                <a:srgbClr val="5B6CB2"/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b="1" dirty="0">
                    <a:solidFill>
                      <a:schemeClr val="tx1"/>
                    </a:solidFill>
                    <a:latin typeface="Calibri"/>
                  </a:rPr>
                  <a:t>2. Scaling law fitting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E3E8F8"/>
                    </a:solidFill>
                    <a:latin typeface="Calibri"/>
                  </a:rPr>
                  <a:t>Recover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smtClean="0">
                            <a:solidFill>
                              <a:srgbClr val="E3E8F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rgbClr val="E3E8F8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E3E8F8"/>
                    </a:solidFill>
                    <a:latin typeface="Calibri"/>
                  </a:rPr>
                  <a:t>.</a:t>
                </a:r>
                <a:endParaRPr sz="1200" dirty="0">
                  <a:solidFill>
                    <a:srgbClr val="E3E8F8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22" y="4826450"/>
                <a:ext cx="2468880" cy="86847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1508443" y="4826450"/>
                <a:ext cx="2468880" cy="868479"/>
              </a:xfrm>
              <a:prstGeom prst="roundRect">
                <a:avLst/>
              </a:prstGeom>
              <a:solidFill>
                <a:srgbClr val="E36621"/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b="1" dirty="0">
                    <a:solidFill>
                      <a:schemeClr val="tx1"/>
                    </a:solidFill>
                    <a:latin typeface="Calibri"/>
                  </a:rPr>
                  <a:t>3. Evaluation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F6E9CF"/>
                    </a:solidFill>
                    <a:latin typeface="Calibri"/>
                  </a:rPr>
                  <a:t>Compare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smtClean="0">
                            <a:solidFill>
                              <a:srgbClr val="F6E9C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rgbClr val="F6E9C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F6E9CF"/>
                    </a:solidFill>
                    <a:latin typeface="Calibri"/>
                  </a:rPr>
                  <a:t> against ground truth.</a:t>
                </a:r>
                <a:endParaRPr sz="1200" dirty="0">
                  <a:solidFill>
                    <a:srgbClr val="F6E9C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443" y="4826450"/>
                <a:ext cx="2468880" cy="86847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 9"/>
          <p:cNvCxnSpPr/>
          <p:nvPr/>
        </p:nvCxnSpPr>
        <p:spPr>
          <a:xfrm>
            <a:off x="4343082" y="95169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083" y="254035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003" y="254035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BEC1AB-90AE-93C3-FEBB-B7AA2395A0E4}"/>
              </a:ext>
            </a:extLst>
          </p:cNvPr>
          <p:cNvSpPr txBox="1"/>
          <p:nvPr/>
        </p:nvSpPr>
        <p:spPr>
          <a:xfrm>
            <a:off x="8254585" y="334470"/>
            <a:ext cx="1961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Data acquisition</a:t>
            </a:r>
            <a:endParaRPr lang="LID4096" b="1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20DB17D-2716-1CB9-CD9B-B09E95BCE466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325993" y="351561"/>
            <a:ext cx="354220" cy="278891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Diamond 24">
                <a:extLst>
                  <a:ext uri="{FF2B5EF4-FFF2-40B4-BE49-F238E27FC236}">
                    <a16:creationId xmlns:a16="http://schemas.microsoft.com/office/drawing/2014/main" id="{7F48286B-DBA9-AF23-BBFB-DE1F591B2317}"/>
                  </a:ext>
                </a:extLst>
              </p:cNvPr>
              <p:cNvSpPr/>
              <p:nvPr/>
            </p:nvSpPr>
            <p:spPr>
              <a:xfrm>
                <a:off x="4921690" y="3576515"/>
                <a:ext cx="1951745" cy="806822"/>
              </a:xfrm>
              <a:prstGeom prst="diamond">
                <a:avLst/>
              </a:prstGeom>
              <a:solidFill>
                <a:srgbClr val="F2FAF8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chemeClr val="tx1"/>
                    </a:solidFill>
                  </a:rPr>
                  <a:t>?</a:t>
                </a:r>
                <a:endParaRPr lang="LID4096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Diamond 24">
                <a:extLst>
                  <a:ext uri="{FF2B5EF4-FFF2-40B4-BE49-F238E27FC236}">
                    <a16:creationId xmlns:a16="http://schemas.microsoft.com/office/drawing/2014/main" id="{7F48286B-DBA9-AF23-BBFB-DE1F591B2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690" y="3576515"/>
                <a:ext cx="1951745" cy="806822"/>
              </a:xfrm>
              <a:prstGeom prst="diamond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10EBAE5-32C6-078B-DC7A-8D842F36BD08}"/>
              </a:ext>
            </a:extLst>
          </p:cNvPr>
          <p:cNvCxnSpPr>
            <a:stCxn id="7" idx="2"/>
            <a:endCxn id="25" idx="3"/>
          </p:cNvCxnSpPr>
          <p:nvPr/>
        </p:nvCxnSpPr>
        <p:spPr>
          <a:xfrm rot="5400000">
            <a:off x="7368781" y="2662224"/>
            <a:ext cx="822356" cy="18130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E660344-4428-CCBF-CB9A-05F7DD07E8B8}"/>
              </a:ext>
            </a:extLst>
          </p:cNvPr>
          <p:cNvCxnSpPr>
            <a:stCxn id="25" idx="1"/>
            <a:endCxn id="5" idx="2"/>
          </p:cNvCxnSpPr>
          <p:nvPr/>
        </p:nvCxnSpPr>
        <p:spPr>
          <a:xfrm rot="10800000">
            <a:off x="3108644" y="3157570"/>
            <a:ext cx="1813047" cy="8223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10DDFF-4BB4-E43F-E54A-8549F102250C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3977323" y="5260690"/>
            <a:ext cx="685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6D28DD5-752B-EFD8-D827-88EA62566D5A}"/>
              </a:ext>
            </a:extLst>
          </p:cNvPr>
          <p:cNvCxnSpPr>
            <a:stCxn id="25" idx="2"/>
            <a:endCxn id="8" idx="0"/>
          </p:cNvCxnSpPr>
          <p:nvPr/>
        </p:nvCxnSpPr>
        <p:spPr>
          <a:xfrm rot="5400000">
            <a:off x="5676007" y="4604893"/>
            <a:ext cx="44311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79C8F91-D910-EC94-8165-D0412DCF9434}"/>
              </a:ext>
            </a:extLst>
          </p:cNvPr>
          <p:cNvSpPr txBox="1"/>
          <p:nvPr/>
        </p:nvSpPr>
        <p:spPr>
          <a:xfrm>
            <a:off x="5951647" y="4409664"/>
            <a:ext cx="38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Yes</a:t>
            </a:r>
            <a:endParaRPr lang="LID4096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0A031-1323-E1DC-3C84-1E7B516C638D}"/>
              </a:ext>
            </a:extLst>
          </p:cNvPr>
          <p:cNvSpPr txBox="1"/>
          <p:nvPr/>
        </p:nvSpPr>
        <p:spPr>
          <a:xfrm>
            <a:off x="3833867" y="3690602"/>
            <a:ext cx="362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</a:t>
            </a:r>
            <a:endParaRPr lang="LID4096" sz="1200" i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DB8EE6-C9DF-7C2F-6752-68927ED60BD0}"/>
              </a:ext>
            </a:extLst>
          </p:cNvPr>
          <p:cNvCxnSpPr>
            <a:stCxn id="6" idx="2"/>
            <a:endCxn id="25" idx="0"/>
          </p:cNvCxnSpPr>
          <p:nvPr/>
        </p:nvCxnSpPr>
        <p:spPr>
          <a:xfrm>
            <a:off x="5897563" y="3157570"/>
            <a:ext cx="0" cy="418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110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Onuţu, Diana</cp:lastModifiedBy>
  <cp:revision>40</cp:revision>
  <dcterms:created xsi:type="dcterms:W3CDTF">2013-01-27T09:14:16Z</dcterms:created>
  <dcterms:modified xsi:type="dcterms:W3CDTF">2026-08-06T15:10:25Z</dcterms:modified>
  <cp:category/>
</cp:coreProperties>
</file>