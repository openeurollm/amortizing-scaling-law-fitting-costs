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795125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77AD"/>
    <a:srgbClr val="4D7D77"/>
    <a:srgbClr val="475697"/>
    <a:srgbClr val="E36621"/>
    <a:srgbClr val="F2FAF8"/>
    <a:srgbClr val="FFFFFF"/>
    <a:srgbClr val="C97B4B"/>
    <a:srgbClr val="245E57"/>
    <a:srgbClr val="5D7F79"/>
    <a:srgbClr val="C6E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824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02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08442" y="76409"/>
            <a:ext cx="8778240" cy="4442010"/>
          </a:xfrm>
          <a:prstGeom prst="roundRect">
            <a:avLst/>
          </a:prstGeom>
          <a:solidFill>
            <a:srgbClr val="2A9D8F"/>
          </a:solidFill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endParaRPr lang="en-US" sz="1000" i="1" dirty="0">
              <a:solidFill>
                <a:srgbClr val="635C74"/>
              </a:solidFill>
              <a:latin typeface="Calibri"/>
            </a:endParaRPr>
          </a:p>
          <a:p>
            <a:endParaRPr lang="en-US" sz="1000" i="1" dirty="0">
              <a:solidFill>
                <a:srgbClr val="635C74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/>
              <p:cNvSpPr/>
              <p:nvPr/>
            </p:nvSpPr>
            <p:spPr>
              <a:xfrm>
                <a:off x="1874201" y="324169"/>
                <a:ext cx="2468880" cy="971441"/>
              </a:xfrm>
              <a:prstGeom prst="roundRect">
                <a:avLst/>
              </a:prstGeom>
              <a:solidFill>
                <a:srgbClr val="F2FAF8"/>
              </a:solid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1.1 Define search space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search space, </a:t>
                </a:r>
              </a:p>
              <a:p>
                <a:pPr algn="ctr"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budgets.</a:t>
                </a:r>
              </a:p>
            </p:txBody>
          </p:sp>
        </mc:Choice>
        <mc:Fallback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201" y="324169"/>
                <a:ext cx="2468880" cy="97144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4663121" y="324169"/>
                <a:ext cx="2468880" cy="971441"/>
              </a:xfrm>
              <a:prstGeom prst="roundRect">
                <a:avLst/>
              </a:prstGeom>
              <a:solidFill>
                <a:srgbClr val="F2FAF8"/>
              </a:solid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1.2 Initialize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Draw </a:t>
                </a:r>
                <a:r>
                  <a:rPr lang="en-US" sz="1000" b="1" dirty="0">
                    <a:solidFill>
                      <a:srgbClr val="4D7D77"/>
                    </a:solidFill>
                    <a:latin typeface="Consolas"/>
                  </a:rPr>
                  <a:t>n_init_points</a:t>
                </a:r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. Measure loss. Spend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4D7D77"/>
                        </a:solidFill>
                        <a:latin typeface="Cambria Math" panose="02040503050406030204" pitchFamily="18" charset="0"/>
                      </a:rPr>
                      <m:t> ←∑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4D7D7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D7D77"/>
                    </a:solidFill>
                    <a:latin typeface="Calibri"/>
                  </a:rPr>
                  <a:t>.</a:t>
                </a:r>
                <a:endParaRPr sz="1200" dirty="0">
                  <a:solidFill>
                    <a:srgbClr val="4D7D77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1" y="324169"/>
                <a:ext cx="2468880" cy="97144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635C74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1874202" y="1912829"/>
            <a:ext cx="2468880" cy="1234440"/>
          </a:xfrm>
          <a:prstGeom prst="roundRect">
            <a:avLst/>
          </a:prstGeom>
          <a:solidFill>
            <a:srgbClr val="C6E8E2"/>
          </a:solidFill>
          <a:ln w="19050">
            <a:solidFill>
              <a:srgbClr val="21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t"/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chemeClr val="tx1"/>
                </a:solidFill>
                <a:latin typeface="Calibri"/>
              </a:rPr>
              <a:t>1.3 Next point </a:t>
            </a:r>
            <a:r>
              <a:rPr lang="en-US" sz="1400" b="1" dirty="0">
                <a:solidFill>
                  <a:schemeClr val="tx1"/>
                </a:solidFill>
                <a:latin typeface="Calibri"/>
              </a:rPr>
              <a:t>selection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45E57"/>
                </a:solidFill>
                <a:latin typeface="Calibri"/>
              </a:rPr>
              <a:t>Pick one point to acquire next 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45E57"/>
                </a:solidFill>
                <a:latin typeface="Calibri"/>
              </a:rPr>
              <a:t>based on </a:t>
            </a:r>
            <a:r>
              <a:rPr lang="en-US" sz="1200" b="1" dirty="0">
                <a:solidFill>
                  <a:srgbClr val="245E57"/>
                </a:solidFill>
                <a:latin typeface="Calibri"/>
              </a:rPr>
              <a:t>selection strategy</a:t>
            </a:r>
            <a:r>
              <a:rPr lang="en-US" sz="1200" dirty="0">
                <a:solidFill>
                  <a:srgbClr val="245E57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663122" y="1912829"/>
                <a:ext cx="2468880" cy="1234440"/>
              </a:xfrm>
              <a:prstGeom prst="roundRect">
                <a:avLst/>
              </a:prstGeom>
              <a:solidFill>
                <a:srgbClr val="C6E8E2"/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Calibri"/>
                  </a:rPr>
                  <a:t>1.4 Data collection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Measure that point's loss. 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Spend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</a:rPr>
                      <m:t> 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rgbClr val="245E5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45E5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245E57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2" y="1912829"/>
                <a:ext cx="2468880" cy="12344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452042" y="1893678"/>
            <a:ext cx="2468881" cy="1234440"/>
          </a:xfrm>
          <a:prstGeom prst="roundRect">
            <a:avLst/>
          </a:prstGeom>
          <a:solidFill>
            <a:srgbClr val="C6E8E2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9728" rIns="128016" rtlCol="0" anchor="t"/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chemeClr val="tx1"/>
                </a:solidFill>
                <a:latin typeface="Calibri"/>
              </a:rPr>
              <a:t>1.5 Fantasize</a:t>
            </a:r>
          </a:p>
          <a:p>
            <a:pPr algn="ctr">
              <a:spcAft>
                <a:spcPts val="200"/>
              </a:spcAft>
            </a:pPr>
            <a:r>
              <a:rPr sz="1200" dirty="0">
                <a:solidFill>
                  <a:srgbClr val="245E57"/>
                </a:solidFill>
                <a:latin typeface="Calibri"/>
              </a:rPr>
              <a:t>Fit a </a:t>
            </a:r>
            <a:r>
              <a:rPr sz="1200" b="1" dirty="0">
                <a:solidFill>
                  <a:srgbClr val="245E57"/>
                </a:solidFill>
                <a:latin typeface="Calibri"/>
              </a:rPr>
              <a:t>surrogate </a:t>
            </a:r>
            <a:r>
              <a:rPr sz="1200" dirty="0">
                <a:solidFill>
                  <a:srgbClr val="245E57"/>
                </a:solidFill>
                <a:latin typeface="Calibri"/>
              </a:rPr>
              <a:t>and predict loss</a:t>
            </a:r>
            <a:endParaRPr lang="en-US" sz="1200" dirty="0">
              <a:solidFill>
                <a:srgbClr val="245E57"/>
              </a:solidFill>
              <a:latin typeface="Calibri"/>
            </a:endParaRPr>
          </a:p>
          <a:p>
            <a:pPr algn="ctr">
              <a:spcAft>
                <a:spcPts val="200"/>
              </a:spcAft>
            </a:pPr>
            <a:r>
              <a:rPr sz="1200" dirty="0">
                <a:solidFill>
                  <a:srgbClr val="245E57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245E57"/>
                </a:solidFill>
                <a:latin typeface="Calibri"/>
              </a:rPr>
              <a:t>for remaining points</a:t>
            </a:r>
            <a:r>
              <a:rPr sz="1200" dirty="0">
                <a:solidFill>
                  <a:srgbClr val="245E57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4663121" y="4816149"/>
                <a:ext cx="2468880" cy="868479"/>
              </a:xfrm>
              <a:prstGeom prst="roundRect">
                <a:avLst/>
              </a:prstGeom>
              <a:solidFill>
                <a:srgbClr val="8F77AD"/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b="1" dirty="0">
                    <a:solidFill>
                      <a:schemeClr val="tx1"/>
                    </a:solidFill>
                    <a:latin typeface="Calibri"/>
                  </a:rPr>
                  <a:t>2. Scaling law fitting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E3E8F8"/>
                    </a:solidFill>
                    <a:latin typeface="Calibri"/>
                  </a:rPr>
                  <a:t>Recover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0" i="1" smtClean="0">
                            <a:solidFill>
                              <a:srgbClr val="E3E8F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rgbClr val="E3E8F8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E3E8F8"/>
                    </a:solidFill>
                    <a:latin typeface="Calibri"/>
                  </a:rPr>
                  <a:t>.</a:t>
                </a:r>
                <a:endParaRPr sz="1200" dirty="0">
                  <a:solidFill>
                    <a:srgbClr val="E3E8F8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21" y="4816149"/>
                <a:ext cx="2468880" cy="86847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/>
              <p:cNvSpPr/>
              <p:nvPr/>
            </p:nvSpPr>
            <p:spPr>
              <a:xfrm>
                <a:off x="1508442" y="4816149"/>
                <a:ext cx="2468880" cy="868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solidFill>
                  <a:srgbClr val="211F2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109728" rIns="128016" rtlCol="0" anchor="t"/>
              <a:lstStyle/>
              <a:p>
                <a:pPr algn="ctr">
                  <a:spcAft>
                    <a:spcPts val="600"/>
                  </a:spcAft>
                </a:pPr>
                <a:r>
                  <a:rPr lang="en-US" b="1" dirty="0">
                    <a:solidFill>
                      <a:schemeClr val="tx1"/>
                    </a:solidFill>
                    <a:latin typeface="Calibri"/>
                  </a:rPr>
                  <a:t>3. Evaluation</a:t>
                </a:r>
              </a:p>
              <a:p>
                <a:pPr algn="ctr">
                  <a:spcAft>
                    <a:spcPts val="200"/>
                  </a:spcAft>
                </a:pPr>
                <a:r>
                  <a:rPr lang="en-US" sz="1200" dirty="0">
                    <a:solidFill>
                      <a:srgbClr val="F6E9CF"/>
                    </a:solidFill>
                    <a:latin typeface="Calibri"/>
                  </a:rPr>
                  <a:t>Compare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0" i="1" smtClean="0">
                            <a:solidFill>
                              <a:srgbClr val="F6E9C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rgbClr val="F6E9C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F6E9CF"/>
                    </a:solidFill>
                    <a:latin typeface="Calibri"/>
                  </a:rPr>
                  <a:t> against ground truth.</a:t>
                </a:r>
                <a:endParaRPr sz="1200" dirty="0">
                  <a:solidFill>
                    <a:srgbClr val="F6E9C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442" y="4816149"/>
                <a:ext cx="2468880" cy="86847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211F2E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 11"/>
          <p:cNvCxnSpPr/>
          <p:nvPr/>
        </p:nvCxnSpPr>
        <p:spPr>
          <a:xfrm>
            <a:off x="4343082" y="2530049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002" y="2530049"/>
            <a:ext cx="320040" cy="0"/>
          </a:xfrm>
          <a:prstGeom prst="line">
            <a:avLst/>
          </a:prstGeom>
          <a:ln w="22225">
            <a:solidFill>
              <a:srgbClr val="211F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BEC1AB-90AE-93C3-FEBB-B7AA2395A0E4}"/>
              </a:ext>
            </a:extLst>
          </p:cNvPr>
          <p:cNvSpPr txBox="1"/>
          <p:nvPr/>
        </p:nvSpPr>
        <p:spPr>
          <a:xfrm>
            <a:off x="7959680" y="324169"/>
            <a:ext cx="1961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Data acquisition</a:t>
            </a:r>
            <a:endParaRPr lang="LID4096" b="1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20DB17D-2716-1CB9-CD9B-B09E95BCE466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194493" y="209760"/>
            <a:ext cx="617219" cy="27889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Diamond 24">
                <a:extLst>
                  <a:ext uri="{FF2B5EF4-FFF2-40B4-BE49-F238E27FC236}">
                    <a16:creationId xmlns:a16="http://schemas.microsoft.com/office/drawing/2014/main" id="{7F48286B-DBA9-AF23-BBFB-DE1F591B2317}"/>
                  </a:ext>
                </a:extLst>
              </p:cNvPr>
              <p:cNvSpPr/>
              <p:nvPr/>
            </p:nvSpPr>
            <p:spPr>
              <a:xfrm>
                <a:off x="4921689" y="3415389"/>
                <a:ext cx="1951745" cy="806822"/>
              </a:xfrm>
              <a:prstGeom prst="diamond">
                <a:avLst/>
              </a:prstGeom>
              <a:solidFill>
                <a:srgbClr val="F2FAF8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chemeClr val="tx1"/>
                    </a:solidFill>
                  </a:rPr>
                  <a:t>?</a:t>
                </a:r>
                <a:endParaRPr lang="LID4096" sz="1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Diamond 24">
                <a:extLst>
                  <a:ext uri="{FF2B5EF4-FFF2-40B4-BE49-F238E27FC236}">
                    <a16:creationId xmlns:a16="http://schemas.microsoft.com/office/drawing/2014/main" id="{7F48286B-DBA9-AF23-BBFB-DE1F591B2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689" y="3415389"/>
                <a:ext cx="1951745" cy="806822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E660344-4428-CCBF-CB9A-05F7DD07E8B8}"/>
              </a:ext>
            </a:extLst>
          </p:cNvPr>
          <p:cNvCxnSpPr>
            <a:cxnSpLocks/>
            <a:stCxn id="25" idx="1"/>
            <a:endCxn id="5" idx="2"/>
          </p:cNvCxnSpPr>
          <p:nvPr/>
        </p:nvCxnSpPr>
        <p:spPr>
          <a:xfrm rot="10800000">
            <a:off x="3108643" y="3147270"/>
            <a:ext cx="1813047" cy="6715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10DDFF-4BB4-E43F-E54A-8549F102250C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3977322" y="5250389"/>
            <a:ext cx="685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6D28DD5-752B-EFD8-D827-88EA62566D5A}"/>
              </a:ext>
            </a:extLst>
          </p:cNvPr>
          <p:cNvCxnSpPr>
            <a:stCxn id="25" idx="2"/>
            <a:endCxn id="8" idx="0"/>
          </p:cNvCxnSpPr>
          <p:nvPr/>
        </p:nvCxnSpPr>
        <p:spPr>
          <a:xfrm rot="5400000">
            <a:off x="5600593" y="4519180"/>
            <a:ext cx="593938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79C8F91-D910-EC94-8165-D0412DCF9434}"/>
              </a:ext>
            </a:extLst>
          </p:cNvPr>
          <p:cNvSpPr txBox="1"/>
          <p:nvPr/>
        </p:nvSpPr>
        <p:spPr>
          <a:xfrm>
            <a:off x="5951646" y="4199855"/>
            <a:ext cx="382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Yes</a:t>
            </a:r>
            <a:endParaRPr lang="LID4096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0A031-1323-E1DC-3C84-1E7B516C638D}"/>
              </a:ext>
            </a:extLst>
          </p:cNvPr>
          <p:cNvSpPr txBox="1"/>
          <p:nvPr/>
        </p:nvSpPr>
        <p:spPr>
          <a:xfrm>
            <a:off x="3833866" y="3539564"/>
            <a:ext cx="36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</a:t>
            </a:r>
            <a:endParaRPr lang="LID4096" sz="1200" i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DB8EE6-C9DF-7C2F-6752-68927ED60BD0}"/>
              </a:ext>
            </a:extLst>
          </p:cNvPr>
          <p:cNvCxnSpPr>
            <a:stCxn id="6" idx="2"/>
            <a:endCxn id="25" idx="0"/>
          </p:cNvCxnSpPr>
          <p:nvPr/>
        </p:nvCxnSpPr>
        <p:spPr>
          <a:xfrm>
            <a:off x="5897562" y="3147269"/>
            <a:ext cx="0" cy="26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A18525-8FFF-3FC5-B17E-B760F23728C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343081" y="809890"/>
            <a:ext cx="320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2E2AC7-7716-E0F1-266A-65970BA818AF}"/>
              </a:ext>
            </a:extLst>
          </p:cNvPr>
          <p:cNvSpPr txBox="1"/>
          <p:nvPr/>
        </p:nvSpPr>
        <p:spPr>
          <a:xfrm>
            <a:off x="9205663" y="2823367"/>
            <a:ext cx="7152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4D7D77"/>
                </a:solidFill>
              </a:rPr>
              <a:t>(optional)</a:t>
            </a:r>
            <a:endParaRPr lang="LID4096" sz="1050" i="1" dirty="0">
              <a:solidFill>
                <a:srgbClr val="4D7D7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107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Onuţu, Diana</cp:lastModifiedBy>
  <cp:revision>64</cp:revision>
  <dcterms:created xsi:type="dcterms:W3CDTF">2013-01-27T09:14:16Z</dcterms:created>
  <dcterms:modified xsi:type="dcterms:W3CDTF">2026-08-12T12:26:07Z</dcterms:modified>
  <cp:category/>
</cp:coreProperties>
</file>